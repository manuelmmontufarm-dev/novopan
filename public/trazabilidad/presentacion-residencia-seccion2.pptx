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828800"/>
            <a:ext cx="5486400" cy="5486400"/>
          </a:xfrm>
          <a:prstGeom prst="ellipse">
            <a:avLst/>
          </a:prstGeom>
          <a:solidFill>
            <a:srgbClr val="163B5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FE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NOVOPAN · LÍNEA 1 · SECCIÓN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65176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Tiempo de residencia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36576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de un cambio de material a lo largo de la línea: silos → prensa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448056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6F1F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48056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HMI · lo que leo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448056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1F5EE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448056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Medido · lo que mido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448056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AEEDA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0" y="448056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· lo que pruebo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LÍNEA, DE UN VISTAZO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silo a estaca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3246120"/>
            <a:ext cx="1010686" cy="1371600"/>
          </a:xfrm>
          <a:prstGeom prst="roundRect">
            <a:avLst>
              <a:gd name="adj" fmla="val 5428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3246120"/>
            <a:ext cx="1010686" cy="54864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3392424"/>
            <a:ext cx="91924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Silos 5 · 6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94360" y="4233672"/>
            <a:ext cx="91924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HMI · Test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559326" y="3794760"/>
            <a:ext cx="109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A"/>
                </a:solidFill>
              </a:rPr>
              <a:t>→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669054" y="3246120"/>
            <a:ext cx="1010686" cy="1371600"/>
          </a:xfrm>
          <a:prstGeom prst="roundRect">
            <a:avLst>
              <a:gd name="adj" fmla="val 5428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669054" y="3246120"/>
            <a:ext cx="1010686" cy="54864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11" name="Text 9"/>
          <p:cNvSpPr/>
          <p:nvPr/>
        </p:nvSpPr>
        <p:spPr>
          <a:xfrm>
            <a:off x="1714774" y="3392424"/>
            <a:ext cx="91924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Dosing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714774" y="4233672"/>
            <a:ext cx="91924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HMI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679741" y="3794760"/>
            <a:ext cx="109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A"/>
                </a:solidFill>
              </a:rPr>
              <a:t>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89469" y="3246120"/>
            <a:ext cx="1010686" cy="1371600"/>
          </a:xfrm>
          <a:prstGeom prst="roundRect">
            <a:avLst>
              <a:gd name="adj" fmla="val 5428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89469" y="3246120"/>
            <a:ext cx="1010686" cy="54864"/>
          </a:xfrm>
          <a:prstGeom prst="rect">
            <a:avLst/>
          </a:prstGeom>
          <a:solidFill>
            <a:srgbClr val="854F0B"/>
          </a:solidFill>
          <a:ln/>
        </p:spPr>
      </p:sp>
      <p:sp>
        <p:nvSpPr>
          <p:cNvPr id="16" name="Text 14"/>
          <p:cNvSpPr/>
          <p:nvPr/>
        </p:nvSpPr>
        <p:spPr>
          <a:xfrm>
            <a:off x="2835189" y="3392424"/>
            <a:ext cx="91924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Encolador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835189" y="4233672"/>
            <a:ext cx="91924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800155" y="3794760"/>
            <a:ext cx="109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A"/>
                </a:solidFill>
              </a:rPr>
              <a:t>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909883" y="3246120"/>
            <a:ext cx="1010686" cy="1371600"/>
          </a:xfrm>
          <a:prstGeom prst="roundRect">
            <a:avLst>
              <a:gd name="adj" fmla="val 5428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909883" y="3246120"/>
            <a:ext cx="1010686" cy="54864"/>
          </a:xfrm>
          <a:prstGeom prst="rect">
            <a:avLst/>
          </a:prstGeom>
          <a:solidFill>
            <a:srgbClr val="085041"/>
          </a:solidFill>
          <a:ln/>
        </p:spPr>
      </p:sp>
      <p:sp>
        <p:nvSpPr>
          <p:cNvPr id="21" name="Text 19"/>
          <p:cNvSpPr/>
          <p:nvPr/>
        </p:nvSpPr>
        <p:spPr>
          <a:xfrm>
            <a:off x="3955603" y="3392424"/>
            <a:ext cx="91924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Banda inclinada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955603" y="4233672"/>
            <a:ext cx="91924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Medido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920569" y="3794760"/>
            <a:ext cx="109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A"/>
                </a:solidFill>
              </a:rPr>
              <a:t>→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30297" y="3246120"/>
            <a:ext cx="1010686" cy="1371600"/>
          </a:xfrm>
          <a:prstGeom prst="roundRect">
            <a:avLst>
              <a:gd name="adj" fmla="val 5428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30297" y="3246120"/>
            <a:ext cx="1010686" cy="54864"/>
          </a:xfrm>
          <a:prstGeom prst="rect">
            <a:avLst/>
          </a:prstGeom>
          <a:solidFill>
            <a:srgbClr val="085041"/>
          </a:solidFill>
          <a:ln/>
        </p:spPr>
      </p:sp>
      <p:sp>
        <p:nvSpPr>
          <p:cNvPr id="26" name="Text 24"/>
          <p:cNvSpPr/>
          <p:nvPr/>
        </p:nvSpPr>
        <p:spPr>
          <a:xfrm>
            <a:off x="5076017" y="3392424"/>
            <a:ext cx="91924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Esparcidores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076017" y="4233672"/>
            <a:ext cx="91924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HMI · Medido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040984" y="3794760"/>
            <a:ext cx="109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A"/>
                </a:solidFill>
              </a:rPr>
              <a:t>→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50712" y="3246120"/>
            <a:ext cx="1010686" cy="1371600"/>
          </a:xfrm>
          <a:prstGeom prst="roundRect">
            <a:avLst>
              <a:gd name="adj" fmla="val 5428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50712" y="3246120"/>
            <a:ext cx="1010686" cy="54864"/>
          </a:xfrm>
          <a:prstGeom prst="rect">
            <a:avLst/>
          </a:prstGeom>
          <a:solidFill>
            <a:srgbClr val="085041"/>
          </a:solidFill>
          <a:ln/>
        </p:spPr>
      </p:sp>
      <p:sp>
        <p:nvSpPr>
          <p:cNvPr id="31" name="Text 29"/>
          <p:cNvSpPr/>
          <p:nvPr/>
        </p:nvSpPr>
        <p:spPr>
          <a:xfrm>
            <a:off x="6196432" y="3392424"/>
            <a:ext cx="91924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Colchón · merge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196432" y="4233672"/>
            <a:ext cx="91924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Medido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161398" y="3794760"/>
            <a:ext cx="109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A"/>
                </a:solidFill>
              </a:rPr>
              <a:t>→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271126" y="3246120"/>
            <a:ext cx="1010686" cy="1371600"/>
          </a:xfrm>
          <a:prstGeom prst="roundRect">
            <a:avLst>
              <a:gd name="adj" fmla="val 5428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271126" y="3246120"/>
            <a:ext cx="1010686" cy="54864"/>
          </a:xfrm>
          <a:prstGeom prst="rect">
            <a:avLst/>
          </a:prstGeom>
          <a:solidFill>
            <a:srgbClr val="085041"/>
          </a:solidFill>
          <a:ln/>
        </p:spPr>
      </p:sp>
      <p:sp>
        <p:nvSpPr>
          <p:cNvPr id="36" name="Text 34"/>
          <p:cNvSpPr/>
          <p:nvPr/>
        </p:nvSpPr>
        <p:spPr>
          <a:xfrm>
            <a:off x="7316846" y="3392424"/>
            <a:ext cx="91924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Banda blanca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316846" y="4233672"/>
            <a:ext cx="91924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Medido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8281812" y="3794760"/>
            <a:ext cx="109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A"/>
                </a:solidFill>
              </a:rPr>
              <a:t>→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391540" y="3246120"/>
            <a:ext cx="1010686" cy="1371600"/>
          </a:xfrm>
          <a:prstGeom prst="roundRect">
            <a:avLst>
              <a:gd name="adj" fmla="val 5428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391540" y="3246120"/>
            <a:ext cx="1010686" cy="54864"/>
          </a:xfrm>
          <a:prstGeom prst="rect">
            <a:avLst/>
          </a:prstGeom>
          <a:solidFill>
            <a:srgbClr val="085041"/>
          </a:solidFill>
          <a:ln/>
        </p:spPr>
      </p:sp>
      <p:sp>
        <p:nvSpPr>
          <p:cNvPr id="41" name="Text 39"/>
          <p:cNvSpPr/>
          <p:nvPr/>
        </p:nvSpPr>
        <p:spPr>
          <a:xfrm>
            <a:off x="8437260" y="3392424"/>
            <a:ext cx="91924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Banda roja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437260" y="4233672"/>
            <a:ext cx="91924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Medido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9402227" y="3794760"/>
            <a:ext cx="109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A"/>
                </a:solidFill>
              </a:rPr>
              <a:t>→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9511955" y="3246120"/>
            <a:ext cx="1010686" cy="1371600"/>
          </a:xfrm>
          <a:prstGeom prst="roundRect">
            <a:avLst>
              <a:gd name="adj" fmla="val 5428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9511955" y="3246120"/>
            <a:ext cx="1010686" cy="54864"/>
          </a:xfrm>
          <a:prstGeom prst="rect">
            <a:avLst/>
          </a:prstGeom>
          <a:solidFill>
            <a:srgbClr val="085041"/>
          </a:solidFill>
          <a:ln/>
        </p:spPr>
      </p:sp>
      <p:sp>
        <p:nvSpPr>
          <p:cNvPr id="46" name="Text 44"/>
          <p:cNvSpPr/>
          <p:nvPr/>
        </p:nvSpPr>
        <p:spPr>
          <a:xfrm>
            <a:off x="9557675" y="3392424"/>
            <a:ext cx="91924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Prensa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9557675" y="4233672"/>
            <a:ext cx="91924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Medido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10522641" y="3794760"/>
            <a:ext cx="109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A"/>
                </a:solidFill>
              </a:rPr>
              <a:t>→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10632369" y="3246120"/>
            <a:ext cx="1010686" cy="1371600"/>
          </a:xfrm>
          <a:prstGeom prst="roundRect">
            <a:avLst>
              <a:gd name="adj" fmla="val 5428"/>
            </a:avLst>
          </a:prstGeom>
          <a:solidFill>
            <a:srgbClr val="FFFFFF"/>
          </a:solidFill>
          <a:ln w="12700">
            <a:solidFill>
              <a:srgbClr val="E4E8EE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10632369" y="3246120"/>
            <a:ext cx="1010686" cy="54864"/>
          </a:xfrm>
          <a:prstGeom prst="rect">
            <a:avLst/>
          </a:prstGeom>
          <a:solidFill>
            <a:srgbClr val="5F5E5A"/>
          </a:solidFill>
          <a:ln/>
        </p:spPr>
      </p:sp>
      <p:sp>
        <p:nvSpPr>
          <p:cNvPr id="51" name="Text 49"/>
          <p:cNvSpPr/>
          <p:nvPr/>
        </p:nvSpPr>
        <p:spPr>
          <a:xfrm>
            <a:off x="10678089" y="3392424"/>
            <a:ext cx="91924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Post-prensa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10678089" y="4233672"/>
            <a:ext cx="91924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· TBD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548640" y="4937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etapa se modela como recipiente (Little), banda (L/v) o prueba.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Novopan · L1 Sección 2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Supuestos + Little's Law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flujo F se conserva a lo largo de la línea (estado estable).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Recipiente → τ = M/F   ·   Banda → t = L/v   ·   Encolador → prueba.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Sprays: eliminados del modelo.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10881360" cy="3291840"/>
          </a:xfrm>
          <a:prstGeom prst="roundRect">
            <a:avLst>
              <a:gd name="adj" fmla="val 2778"/>
            </a:avLst>
          </a:prstGeom>
          <a:solidFill>
            <a:srgbClr val="F7F9FA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9718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Little's Law — masa retenida = flujo × tiempo, luego despejamos el tiempo:</a:t>
            </a:r>
            <a:endParaRPr lang="en-US" sz="1300" dirty="0"/>
          </a:p>
        </p:txBody>
      </p:sp>
      <p:pic>
        <p:nvPicPr>
          <p:cNvPr id="7" name="Image 0" descr="/private/tmp/claude-502/-Users-manue-agent-engine--claude-worktrees-epic-visvesvaraya-ee9aea/5bd70527-7094-47ba-aa78-920dd9794ef9/scratchpad/eqs/eq_littl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0054" y="3429000"/>
            <a:ext cx="7841411" cy="822960"/>
          </a:xfrm>
          <a:prstGeom prst="rect">
            <a:avLst/>
          </a:prstGeom>
        </p:spPr>
      </p:pic>
      <p:pic>
        <p:nvPicPr>
          <p:cNvPr id="8" name="Image 1" descr="/private/tmp/claude-502/-Users-manue-agent-engine--claude-worktrees-epic-visvesvaraya-ee9aea/5bd70527-7094-47ba-aa78-920dd9794ef9/scratchpad/eqs/eq_littl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4504089"/>
            <a:ext cx="10149840" cy="11416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Novopan · L1 Sección 2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RECIPIENTE · GEOMETRÍA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Silos 5 (gruesa) · 6 (fina) 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675120" y="713232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6F1FB"/>
          </a:solidFill>
          <a:ln/>
        </p:spPr>
      </p:sp>
      <p:sp>
        <p:nvSpPr>
          <p:cNvPr id="5" name="Text 3"/>
          <p:cNvSpPr/>
          <p:nvPr/>
        </p:nvSpPr>
        <p:spPr>
          <a:xfrm>
            <a:off x="6675120" y="71323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0" y="713232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AEED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0" y="71323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 por geometría → luego Little's con el caudal de descarga (salida):</a:t>
            </a:r>
            <a:endParaRPr lang="en-US" sz="1400" dirty="0"/>
          </a:p>
        </p:txBody>
      </p:sp>
      <p:pic>
        <p:nvPicPr>
          <p:cNvPr id="9" name="Image 0" descr="/private/tmp/claude-502/-Users-manue-agent-engine--claude-worktrees-epic-visvesvaraya-ee9aea/5bd70527-7094-47ba-aa78-920dd9794ef9/scratchpad/eqs/eq_silo_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368261"/>
            <a:ext cx="10881360" cy="978479"/>
          </a:xfrm>
          <a:prstGeom prst="rect">
            <a:avLst/>
          </a:prstGeom>
        </p:spPr>
      </p:pic>
      <p:pic>
        <p:nvPicPr>
          <p:cNvPr id="10" name="Image 1" descr="/private/tmp/claude-502/-Users-manue-agent-engine--claude-worktrees-epic-visvesvaraya-ee9aea/5bd70527-7094-47ba-aa78-920dd9794ef9/scratchpad/eqs/eq_silo_ta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1424" y="3566160"/>
            <a:ext cx="6278671" cy="11430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40080" y="50292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1EFE8"/>
          </a:solidFill>
          <a:ln/>
        </p:spPr>
      </p:sp>
      <p:sp>
        <p:nvSpPr>
          <p:cNvPr id="12" name="Text 8"/>
          <p:cNvSpPr/>
          <p:nvPr/>
        </p:nvSpPr>
        <p:spPr>
          <a:xfrm>
            <a:off x="822960" y="50292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ρ, V</a:t>
            </a:r>
            <a:pPr indent="0" marL="0">
              <a:buNone/>
            </a:pPr>
            <a:r>
              <a:rPr lang="en-US" sz="1500" baseline="-40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</a:t>
            </a:r>
            <a:pPr indent="0" marL="0">
              <a:buNone/>
            </a:pPr>
            <a:r>
              <a:rPr lang="en-US" sz="15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L%, F</a:t>
            </a:r>
            <a:pPr indent="0" marL="0">
              <a:buNone/>
            </a:pPr>
            <a:r>
              <a:rPr lang="en-US" sz="1500" baseline="-40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pPr indent="0" marL="0">
              <a:buNone/>
            </a:pPr>
            <a:r>
              <a:rPr lang="en-US" sz="15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</a:t>
            </a:r>
            <a:pPr indent="0" marL="0">
              <a:buNone/>
            </a:pPr>
            <a:r>
              <a:rPr lang="en-US" sz="15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Novopan · L1 Sección 2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RECIPIENTE + PRUEBA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Dosing bin + Encolador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1920240"/>
          </a:xfrm>
          <a:prstGeom prst="roundRect">
            <a:avLst>
              <a:gd name="adj" fmla="val 4762"/>
            </a:avLst>
          </a:prstGeom>
          <a:solidFill>
            <a:srgbClr val="F7F9FA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Dosing bin (gruesa · fina)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601200" y="169164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6F1F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0" y="169164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HMI</a:t>
            </a:r>
            <a:endParaRPr lang="en-US" sz="1100" dirty="0"/>
          </a:p>
        </p:txBody>
      </p:sp>
      <p:pic>
        <p:nvPicPr>
          <p:cNvPr id="8" name="Image 0" descr="/private/tmp/claude-502/-Users-manue-agent-engine--claude-worktrees-epic-visvesvaraya-ee9aea/5bd70527-7094-47ba-aa78-920dd9794ef9/scratchpad/eqs/eq_d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9231" y="2194560"/>
            <a:ext cx="5591619" cy="10972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0080" y="3703320"/>
            <a:ext cx="10881360" cy="2468880"/>
          </a:xfrm>
          <a:prstGeom prst="roundRect">
            <a:avLst>
              <a:gd name="adj" fmla="val 3704"/>
            </a:avLst>
          </a:prstGeom>
          <a:solidFill>
            <a:srgbClr val="F7F9FA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3886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Encolador (CE fina · CI gruesa)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9601200" y="384048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AEEDA"/>
          </a:solidFill>
          <a:ln/>
        </p:spPr>
      </p:sp>
      <p:sp>
        <p:nvSpPr>
          <p:cNvPr id="12" name="Text 9"/>
          <p:cNvSpPr/>
          <p:nvPr/>
        </p:nvSpPr>
        <p:spPr>
          <a:xfrm>
            <a:off x="9601200" y="384048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00" dirty="0"/>
          </a:p>
        </p:txBody>
      </p:sp>
      <p:pic>
        <p:nvPicPr>
          <p:cNvPr id="13" name="Image 1" descr="/private/tmp/claude-502/-Users-manue-agent-engine--claude-worktrees-epic-visvesvaraya-ee9aea/5bd70527-7094-47ba-aa78-920dd9794ef9/scratchpad/eqs/eq_en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7500" y="4343400"/>
            <a:ext cx="7655081" cy="7772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14400" y="521208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HMI da el caudal DESCARGA por corriente del motor (CE ≈ 111 kg/min · CI ≈ 282 kg/min), pero la residencia se mide por prueba.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Novopan · L1 Sección 2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 + RECIPIENTE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Banda inclinada + Esparcidor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2194560"/>
          </a:xfrm>
          <a:prstGeom prst="roundRect">
            <a:avLst>
              <a:gd name="adj" fmla="val 4167"/>
            </a:avLst>
          </a:prstGeom>
          <a:solidFill>
            <a:srgbClr val="F7F9FA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Banda inclinada azul (fina · gruesa)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326880" y="169164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1F5EE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0" y="169164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Medido</a:t>
            </a:r>
            <a:endParaRPr lang="en-US" sz="1100" dirty="0"/>
          </a:p>
        </p:txBody>
      </p:sp>
      <p:pic>
        <p:nvPicPr>
          <p:cNvPr id="8" name="Image 0" descr="/private/tmp/claude-502/-Users-manue-agent-engine--claude-worktrees-epic-visvesvaraya-ee9aea/5bd70527-7094-47ba-aa78-920dd9794ef9/scratchpad/eqs/eq_inc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48415" y="2194560"/>
            <a:ext cx="5173249" cy="9144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320040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fina: 64.57 / 99.5 × 60 = 38.9 s   ·   gruesa: 68.5 / 96.5 × 60 = 42.6 s   ·   velocidad fija HMI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3977640"/>
            <a:ext cx="10881360" cy="2194560"/>
          </a:xfrm>
          <a:prstGeom prst="roundRect">
            <a:avLst>
              <a:gd name="adj" fmla="val 4167"/>
            </a:avLst>
          </a:prstGeom>
          <a:solidFill>
            <a:srgbClr val="F7F9FA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41605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Esparcidor (e1 · e2 · e3)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229600" y="411480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6F1FB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0" y="411480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HMI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9692640" y="411480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1F5EE"/>
          </a:solidFill>
          <a:ln/>
        </p:spPr>
      </p:sp>
      <p:sp>
        <p:nvSpPr>
          <p:cNvPr id="15" name="Text 12"/>
          <p:cNvSpPr/>
          <p:nvPr/>
        </p:nvSpPr>
        <p:spPr>
          <a:xfrm>
            <a:off x="9692640" y="411480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Medido</a:t>
            </a:r>
            <a:endParaRPr lang="en-US" sz="1100" dirty="0"/>
          </a:p>
        </p:txBody>
      </p:sp>
      <p:pic>
        <p:nvPicPr>
          <p:cNvPr id="16" name="Image 1" descr="/private/tmp/claude-502/-Users-manue-agent-engine--claude-worktrees-epic-visvesvaraya-ee9aea/5bd70527-7094-47ba-aa78-920dd9794ef9/scratchpad/eqs/eq_es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9673" y="4617720"/>
            <a:ext cx="6970734" cy="13716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Novopan · L1 Sección 2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COLCHÓN · REGISTRO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Registrar el último cambio en llegar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149840" y="74980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1F5EE"/>
          </a:solidFill>
          <a:ln/>
        </p:spPr>
      </p:sp>
      <p:sp>
        <p:nvSpPr>
          <p:cNvPr id="5" name="Text 3"/>
          <p:cNvSpPr/>
          <p:nvPr/>
        </p:nvSpPr>
        <p:spPr>
          <a:xfrm>
            <a:off x="10149840" y="74980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tres capas llegan a sus esparcidores con hasta ~2 s de diferencia. El cambio completo se registra cuando llega la ÚLTIMA. No basta ver la CL: la SL1 puede no haberse unido aún.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antes de cada capa (silo → esparcidor):</a:t>
            </a:r>
            <a:endParaRPr lang="en-US" sz="1250" dirty="0"/>
          </a:p>
        </p:txBody>
      </p:sp>
      <p:pic>
        <p:nvPicPr>
          <p:cNvPr id="8" name="Image 0" descr="/private/tmp/claude-502/-Users-manue-agent-engine--claude-worktrees-epic-visvesvaraya-ee9aea/5bd70527-7094-47ba-aa78-920dd9794ef9/scratchpad/eqs/eq_tan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6253" y="2377440"/>
            <a:ext cx="8209013" cy="6858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2004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registra el más lento (max):</a:t>
            </a:r>
            <a:endParaRPr lang="en-US" sz="1250" dirty="0"/>
          </a:p>
        </p:txBody>
      </p:sp>
      <p:pic>
        <p:nvPicPr>
          <p:cNvPr id="10" name="Image 1" descr="/private/tmp/claude-502/-Users-manue-agent-engine--claude-worktrees-epic-visvesvaraya-ee9aea/5bd70527-7094-47ba-aa78-920dd9794ef9/scratchpad/eqs/eq_re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907" y="3520440"/>
            <a:ext cx="9929707" cy="7315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40080" y="452628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E1F5EE"/>
          </a:solidFill>
          <a:ln/>
        </p:spPr>
      </p:sp>
      <p:sp>
        <p:nvSpPr>
          <p:cNvPr id="12" name="Text 8"/>
          <p:cNvSpPr/>
          <p:nvPr/>
        </p:nvSpPr>
        <p:spPr>
          <a:xfrm>
            <a:off x="914400" y="470916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ese registro se mide desde el punto de SL1 (cae en 1.42 m, la más atrás) hasta los sensores del final — la referencia más importante de la línea.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Novopan · L1 Sección 2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REGISTRO A LOS SENSORES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Punto SL1 → sensores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503920" y="713232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1F5EE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71323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Medido</a:t>
            </a:r>
            <a:endParaRPr lang="en-US" sz="1100" dirty="0"/>
          </a:p>
        </p:txBody>
      </p:sp>
      <p:pic>
        <p:nvPicPr>
          <p:cNvPr id="6" name="Image 0" descr="/private/tmp/claude-502/-Users-manue-agent-engine--claude-worktrees-epic-visvesvaraya-ee9aea/5bd70527-7094-47ba-aa78-920dd9794ef9/scratchpad/eqs/eq_d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738348"/>
            <a:ext cx="4389120" cy="6381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223760" y="2697480"/>
            <a:ext cx="4389120" cy="731520"/>
          </a:xfrm>
          <a:prstGeom prst="roundRect">
            <a:avLst>
              <a:gd name="adj" fmla="val 10000"/>
            </a:avLst>
          </a:prstGeom>
          <a:solidFill>
            <a:srgbClr val="E1F5EE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0" y="269748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346.5 s @ 14.5 m/min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452.1 s @ 11.11 m/min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6309360" cy="2377440"/>
        </p:xfrm>
        <a:graphic>
          <a:graphicData uri="http://schemas.openxmlformats.org/drawingml/2006/table">
            <a:tbl>
              <a:tblPr/>
              <a:tblGrid>
                <a:gridCol w="4663440"/>
                <a:gridCol w="1645920"/>
              </a:tblGrid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Tramo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Resto banda blanca  (1.42 → 45 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43.58 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Banda roja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 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Prensa metálica  (19 marcos)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16.6 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Corte → sensores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13.55 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850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 SL1 → sensores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850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83.73 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640080" y="4663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a v_prensa (acoplado a la línea). Los sensores del final son la referencia: aquí termina la medición de trazabilidad.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Novopan · L1 Sección 2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 SOBRE LA BANDA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va dónde — banda blanca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F7F9F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37360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SL1 · Esparcidor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0" y="173736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1.42 – 8.37 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395728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F7F9F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395728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 · Esparcidor 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0" y="2395728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11.72 – 16.10 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054096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F7F9F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054096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SL2 · Esparcidor 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0" y="3054096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17.47 – 23.86 m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712464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F7F9FA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712464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Pre-prensa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0" y="3712464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29.08 – 33.78 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4462272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Imán 26.68 m   ·   Sprays 35.99 m   ·   Detector 37.69 m   ·   Cuchillas 39.56 m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5010912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FAEEDA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5010912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Banda roja · Vapor Dynasteam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0" y="5010912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1.86 – 4.15 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Novopan · L1 Sección 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CAMPO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Repetibilidad de las bandas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Cronómetro, 3 corridas @ 11.11 m/min. El tiempo total de banda es muy consistente: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11680"/>
          <a:ext cx="10515600" cy="1280160"/>
        </p:xfrm>
        <a:graphic>
          <a:graphicData uri="http://schemas.openxmlformats.org/drawingml/2006/table">
            <a:tbl>
              <a:tblPr/>
              <a:tblGrid>
                <a:gridCol w="2103120"/>
                <a:gridCol w="1682496"/>
                <a:gridCol w="1682496"/>
                <a:gridCol w="1682496"/>
                <a:gridCol w="1682496"/>
                <a:gridCol w="1682496"/>
              </a:tblGrid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Corrida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Corrida 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Corrida 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Promedio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Variación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Blanca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242.0 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243.4 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243.2 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242.9 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 0.3 %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Roja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53.7 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54.5 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54.4 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54.2 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 0.4 %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22960" y="3657600"/>
            <a:ext cx="10515600" cy="1005840"/>
          </a:xfrm>
          <a:prstGeom prst="roundRect">
            <a:avLst>
              <a:gd name="adj" fmla="val 9091"/>
            </a:avLst>
          </a:prstGeom>
          <a:solidFill>
            <a:srgbClr val="E1F5EE"/>
          </a:solidFill>
          <a:ln/>
        </p:spPr>
      </p:sp>
      <p:sp>
        <p:nvSpPr>
          <p:cNvPr id="7" name="Text 4"/>
          <p:cNvSpPr/>
          <p:nvPr/>
        </p:nvSpPr>
        <p:spPr>
          <a:xfrm>
            <a:off x="1097280" y="36576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tramos individuales varían más (± 4–11 % por lap), pero el total converge → mediciones confiables.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Novopan · L1 Sección 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DE LA PRENSA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Corte → sensores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0" y="73152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1F5EE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0" y="73152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498080" y="73152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1EFE8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0" y="73152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6583680" cy="2834640"/>
        </p:xfrm>
        <a:graphic>
          <a:graphicData uri="http://schemas.openxmlformats.org/drawingml/2006/table">
            <a:tbl>
              <a:tblPr/>
              <a:tblGrid>
                <a:gridCol w="4937760"/>
                <a:gridCol w="1645920"/>
              </a:tblGrid>
              <a:tr h="4049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Tramo (desde salida de prensa)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F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Salida prensa → cuchillas de filo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6.7 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Cuchillas de filo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1.35 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 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Cortadora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 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→ sensores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 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850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→ sensores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850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13.55 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</a:tr>
            </a:tbl>
          </a:graphicData>
        </a:graphic>
      </p:graphicFrame>
      <p:pic>
        <p:nvPicPr>
          <p:cNvPr id="9" name="Image 0" descr="/private/tmp/claude-502/-Users-manue-agent-engine--claude-worktrees-epic-visvesvaraya-ee9aea/5bd70527-7094-47ba-aa78-920dd9794ef9/scratchpad/eqs/eq_post_n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1984621"/>
            <a:ext cx="4114800" cy="41987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452360" y="2834640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E1F5EE"/>
          </a:solidFill>
          <a:ln/>
        </p:spPr>
      </p:sp>
      <p:sp>
        <p:nvSpPr>
          <p:cNvPr id="11" name="Text 7"/>
          <p:cNvSpPr/>
          <p:nvPr/>
        </p:nvSpPr>
        <p:spPr>
          <a:xfrm>
            <a:off x="7543800" y="283464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56.1 s @ 14.5 m/min  ·  73.2 s @ 11.11 m/min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640080" y="470916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 de medir, después de los sensores: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" y="507492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F1EFE8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521208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Enfriadoras estrella  </a:t>
            </a:r>
            <a:pPr indent="0" marL="0">
              <a:buNone/>
            </a:pPr>
            <a:r>
              <a:rPr lang="en-US" sz="14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868680" y="553212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tableros · rotación 180° · tubos metálicos.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172200" y="507492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F1EFE8"/>
          </a:solidFill>
          <a:ln/>
        </p:spPr>
      </p:sp>
      <p:sp>
        <p:nvSpPr>
          <p:cNvPr id="17" name="Text 13"/>
          <p:cNvSpPr/>
          <p:nvPr/>
        </p:nvSpPr>
        <p:spPr>
          <a:xfrm>
            <a:off x="6400800" y="521208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Estacado  </a:t>
            </a:r>
            <a:pPr indent="0" marL="0">
              <a:buNone/>
            </a:pPr>
            <a:r>
              <a:rPr lang="en-US" sz="14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6400800" y="553212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 de 3 en 3 · apilado neumático.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Novopan · L1 Sección 2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FE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ECUACIÓN MAESTRA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188720" y="2286000"/>
            <a:ext cx="97840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</p:spPr>
      </p:sp>
      <p:pic>
        <p:nvPicPr>
          <p:cNvPr id="4" name="Image 0" descr="/private/tmp/claude-502/-Users-manue-agent-engine--claude-worktrees-epic-visvesvaraya-ee9aea/5bd70527-7094-47ba-aa78-920dd9794ef9/scratchpad/eqs/eq_master_v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2530698"/>
            <a:ext cx="9601200" cy="106508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40233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registra el último cambio en llegar al esparcidor, y se mide desde el punto de SL1 hasta los sensores.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22960" y="470916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FE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max_e( T_antes,e )   </a:t>
            </a:r>
            <a:pPr indent="0" marL="0">
              <a:buNone/>
            </a:pPr>
            <a:r>
              <a:rPr lang="en-US" sz="11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último en llegar al esparcidor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309360" y="470916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FE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83.73 / v_prensa × 60   </a:t>
            </a:r>
            <a:pPr indent="0" marL="0">
              <a:buNone/>
            </a:pPr>
            <a:r>
              <a:rPr lang="en-US" sz="11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SL1 → sensores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22960" y="534924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FE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T_antes,e = τ_silo+τ_dos+t_enc+t_incl+τ_esp   </a:t>
            </a:r>
            <a:pPr indent="0" marL="0">
              <a:buNone/>
            </a:pPr>
            <a:r>
              <a:rPr lang="en-US" sz="11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capa, antes del colchón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309360" y="534924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FE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83.73 = 43.58 + 10 + 16.6 + 13.55   </a:t>
            </a:r>
            <a:pPr indent="0" marL="0">
              <a:buNone/>
            </a:pPr>
            <a:r>
              <a:rPr lang="en-US" sz="11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 blanca+roja+prensa+corte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22960" y="61722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∈ {SL1, CL, SL2}   ·   referencia final = sensores   ·   enfriadoras + estacado quedan después de los sensores (fuera de la medición)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Tiempo de residencia · L1 Sección 2</dc:title>
  <dc:subject>PptxGenJS Presentation</dc:subject>
  <dc:creator>Novopan</dc:creator>
  <cp:lastModifiedBy>Novopan</cp:lastModifiedBy>
  <cp:revision>1</cp:revision>
  <dcterms:created xsi:type="dcterms:W3CDTF">2026-07-03T16:49:10Z</dcterms:created>
  <dcterms:modified xsi:type="dcterms:W3CDTF">2026-07-03T16:49:10Z</dcterms:modified>
</cp:coreProperties>
</file>